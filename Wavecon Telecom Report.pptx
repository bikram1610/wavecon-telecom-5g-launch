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158EE-D136-40D3-9826-F9F12301335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3DACBE-9E5A-4010-A9DF-73ADE3E33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4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DACBE-9E5A-4010-A9DF-73ADE3E3359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9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BBB8170F-0370-4A38-8BF3-83D69476AE62}" type="datetime1">
              <a:rPr lang="en-US" smtClean="0"/>
              <a:t>9/21/2026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46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7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06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994A23-0EFF-404D-A2C5-6B54939039AD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851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9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23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41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08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402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3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67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91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43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739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720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296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635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204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14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36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36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216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637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999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26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02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  <p:sldLayoutId id="2147483989" r:id="rId18"/>
    <p:sldLayoutId id="2147483990" r:id="rId19"/>
    <p:sldLayoutId id="2147483991" r:id="rId20"/>
    <p:sldLayoutId id="2147483992" r:id="rId21"/>
    <p:sldLayoutId id="2147483993" r:id="rId22"/>
    <p:sldLayoutId id="2147483994" r:id="rId23"/>
    <p:sldLayoutId id="2147483995" r:id="rId24"/>
    <p:sldLayoutId id="2147483996" r:id="rId25"/>
    <p:sldLayoutId id="2147483997" r:id="rId26"/>
    <p:sldLayoutId id="214748399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3065B1"/>
                </a:solidFill>
                <a:latin typeface="Aptos"/>
              </a:rPr>
              <a:t>WAVECON TELECOM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772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2D3748"/>
                </a:solidFill>
                <a:latin typeface="Aptos"/>
              </a:rPr>
              <a:t>5G Launch</a:t>
            </a:r>
            <a:br>
              <a:rPr dirty="0"/>
            </a:br>
            <a:r>
              <a:rPr sz="3400" b="1" dirty="0">
                <a:solidFill>
                  <a:srgbClr val="2D3748"/>
                </a:solidFill>
                <a:latin typeface="Aptos"/>
              </a:rPr>
              <a:t>Business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71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88" b="0">
                <a:solidFill>
                  <a:srgbClr val="697382"/>
                </a:solidFill>
                <a:latin typeface="Aptos"/>
              </a:rPr>
              <a:t>Revenue, customer, plan and city-level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234440"/>
            <a:ext cx="2651760" cy="3703320"/>
          </a:xfrm>
          <a:prstGeom prst="roundRect">
            <a:avLst/>
          </a:prstGeom>
          <a:solidFill>
            <a:srgbClr val="E8F1FC"/>
          </a:solidFill>
          <a:ln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1600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065B1"/>
                </a:solidFill>
                <a:latin typeface="Aptos"/>
              </a:rPr>
              <a:t>AFTER 5G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1488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32" b="1">
                <a:solidFill>
                  <a:srgbClr val="2D3748"/>
                </a:solidFill>
                <a:latin typeface="Aptos"/>
              </a:rPr>
              <a:t>Revenue</a:t>
            </a:r>
            <a:br/>
            <a:r>
              <a:rPr sz="2832" b="1">
                <a:solidFill>
                  <a:srgbClr val="2D3748"/>
                </a:solidFill>
                <a:latin typeface="Aptos"/>
              </a:rPr>
              <a:t>₹15.9B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31821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16" b="1">
                <a:solidFill>
                  <a:srgbClr val="3D9156"/>
                </a:solidFill>
                <a:latin typeface="Aptos"/>
              </a:rPr>
              <a:t>ARPU  +11.1%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16" b="1">
                <a:solidFill>
                  <a:srgbClr val="CD4B4B"/>
                </a:solidFill>
                <a:latin typeface="Aptos"/>
              </a:rPr>
              <a:t>Active users  -8.3%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13308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16" b="1">
                <a:solidFill>
                  <a:srgbClr val="CD4B4B"/>
                </a:solidFill>
                <a:latin typeface="Aptos"/>
              </a:rPr>
              <a:t>Unsubscribed  +23.5%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5G launch changed the balance between customer value and customer volume.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514600" cy="1371600"/>
          </a:xfrm>
          <a:prstGeom prst="roundRect">
            <a:avLst/>
          </a:prstGeom>
          <a:solidFill>
            <a:srgbClr val="FBE9E9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490472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697382"/>
                </a:solidFill>
                <a:latin typeface="Aptos"/>
              </a:rPr>
              <a:t>Revenue</a:t>
            </a:r>
            <a:endParaRPr sz="1400" b="1" dirty="0">
              <a:solidFill>
                <a:srgbClr val="6973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1" y="180136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13" b="1" dirty="0">
                <a:solidFill>
                  <a:srgbClr val="2D3748"/>
                </a:solidFill>
                <a:latin typeface="Aptos"/>
              </a:rPr>
              <a:t>₹15.9B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1343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4B4B"/>
                </a:solidFill>
                <a:latin typeface="Aptos"/>
              </a:rPr>
              <a:t>-0.5%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2514600" cy="1371600"/>
          </a:xfrm>
          <a:prstGeom prst="roundRect">
            <a:avLst/>
          </a:prstGeom>
          <a:solidFill>
            <a:srgbClr val="E8F4EA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490472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697382"/>
                </a:solidFill>
                <a:latin typeface="Aptos"/>
              </a:rPr>
              <a:t>ARPU</a:t>
            </a:r>
            <a:endParaRPr sz="1400" b="1" dirty="0">
              <a:solidFill>
                <a:srgbClr val="69738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7872" y="180136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13" b="1" dirty="0">
                <a:solidFill>
                  <a:srgbClr val="2D3748"/>
                </a:solidFill>
                <a:latin typeface="Aptos"/>
              </a:rPr>
              <a:t>~₹211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1343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9156"/>
                </a:solidFill>
                <a:latin typeface="Aptos"/>
              </a:rPr>
              <a:t>+11.1%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14600" cy="1371600"/>
          </a:xfrm>
          <a:prstGeom prst="roundRect">
            <a:avLst/>
          </a:prstGeom>
          <a:solidFill>
            <a:srgbClr val="FBE9E9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490472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697382"/>
                </a:solidFill>
                <a:latin typeface="Aptos"/>
              </a:rPr>
              <a:t>Active</a:t>
            </a:r>
            <a:r>
              <a:rPr sz="1400" b="1" dirty="0">
                <a:solidFill>
                  <a:srgbClr val="697382"/>
                </a:solidFill>
                <a:latin typeface="Aptos"/>
              </a:rPr>
              <a:t>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80136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13" b="1" dirty="0">
                <a:solidFill>
                  <a:srgbClr val="2D3748"/>
                </a:solidFill>
                <a:latin typeface="Aptos"/>
              </a:rPr>
              <a:t>77.4M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31343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4B4B"/>
                </a:solidFill>
                <a:latin typeface="Aptos"/>
              </a:rPr>
              <a:t>-8.3%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25880"/>
            <a:ext cx="2514600" cy="1371600"/>
          </a:xfrm>
          <a:prstGeom prst="roundRect">
            <a:avLst/>
          </a:prstGeom>
          <a:solidFill>
            <a:srgbClr val="FBE9E9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1490472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697382"/>
                </a:solidFill>
                <a:latin typeface="Aptos"/>
              </a:rPr>
              <a:t>Unsubscribed</a:t>
            </a:r>
            <a:endParaRPr sz="1400" b="1" dirty="0">
              <a:solidFill>
                <a:srgbClr val="69738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34272" y="180136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13" b="1" dirty="0">
                <a:solidFill>
                  <a:srgbClr val="2D3748"/>
                </a:solidFill>
                <a:latin typeface="Aptos"/>
              </a:rPr>
              <a:t>7.0M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31343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4B4B"/>
                </a:solidFill>
                <a:latin typeface="Aptos"/>
              </a:rPr>
              <a:t>+23.5%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99232"/>
            <a:ext cx="10744200" cy="1417320"/>
          </a:xfrm>
          <a:prstGeom prst="roundRect">
            <a:avLst/>
          </a:prstGeom>
          <a:solidFill>
            <a:srgbClr val="E8F1FC"/>
          </a:solidFill>
          <a:ln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547872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3065B1"/>
                </a:solidFill>
                <a:latin typeface="Aptos"/>
              </a:rPr>
              <a:t>Main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559802"/>
            <a:ext cx="8046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D3748"/>
                </a:solidFill>
                <a:latin typeface="Aptos"/>
              </a:rPr>
              <a:t>ARPU increased, but the decline in active users offset much of the benefit.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241280" cy="364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70" b="1" dirty="0">
                <a:solidFill>
                  <a:srgbClr val="2A9191"/>
                </a:solidFill>
                <a:latin typeface="Aptos"/>
              </a:rPr>
              <a:t>N</a:t>
            </a:r>
            <a:r>
              <a:rPr sz="1770" b="1" dirty="0">
                <a:solidFill>
                  <a:srgbClr val="2A9191"/>
                </a:solidFill>
                <a:latin typeface="Aptos"/>
              </a:rPr>
              <a:t>ext priority is retention and migration, not only monetization.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dirty="0">
                <a:solidFill>
                  <a:srgbClr val="697382"/>
                </a:solidFill>
                <a:latin typeface="Aptos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Revenue impact of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Revenue remained almost flat after the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34" b="1">
                <a:solidFill>
                  <a:srgbClr val="697382"/>
                </a:solidFill>
                <a:latin typeface="Aptos"/>
              </a:rPr>
              <a:t>BEFORE 5G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D3748"/>
                </a:solidFill>
                <a:latin typeface="Aptos"/>
              </a:rPr>
              <a:t>₹16.0B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34" b="1">
                <a:solidFill>
                  <a:srgbClr val="697382"/>
                </a:solidFill>
                <a:latin typeface="Aptos"/>
              </a:rPr>
              <a:t>AFTER 5G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D3748"/>
                </a:solidFill>
                <a:latin typeface="Aptos"/>
              </a:rPr>
              <a:t>₹15.9B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34" b="1">
                <a:solidFill>
                  <a:srgbClr val="697382"/>
                </a:solidFill>
                <a:latin typeface="Aptos"/>
              </a:rPr>
              <a:t>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D4B4B"/>
                </a:solidFill>
                <a:latin typeface="Aptos"/>
              </a:rPr>
              <a:t>-0.5%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4" b="1">
                <a:solidFill>
                  <a:srgbClr val="3065B1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4" b="1">
                <a:solidFill>
                  <a:srgbClr val="3065B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10515600" cy="1417320"/>
          </a:xfrm>
          <a:prstGeom prst="roundRect">
            <a:avLst/>
          </a:prstGeom>
          <a:solidFill>
            <a:srgbClr val="FDF1DE"/>
          </a:solidFill>
          <a:ln>
            <a:solidFill>
              <a:srgbClr val="F0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747254"/>
            <a:ext cx="201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6912D"/>
                </a:solidFill>
                <a:latin typeface="Aptos"/>
              </a:rPr>
              <a:t>What this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6118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748"/>
                </a:solidFill>
                <a:latin typeface="Aptos"/>
              </a:rPr>
              <a:t>5G did not create an immediate topline increase. Higher ARPU was largely offset by fewer active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450" y="5595415"/>
            <a:ext cx="10515109" cy="364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70" b="1" dirty="0">
                <a:solidFill>
                  <a:srgbClr val="2D3748"/>
                </a:solidFill>
                <a:latin typeface="Aptos"/>
              </a:rPr>
              <a:t>Management question:</a:t>
            </a:r>
            <a:r>
              <a:rPr lang="en-US" sz="1770" b="1" dirty="0">
                <a:solidFill>
                  <a:srgbClr val="2D3748"/>
                </a:solidFill>
                <a:latin typeface="Aptos"/>
              </a:rPr>
              <a:t> H</a:t>
            </a:r>
            <a:r>
              <a:rPr sz="1770" b="1" dirty="0">
                <a:solidFill>
                  <a:srgbClr val="2D3748"/>
                </a:solidFill>
                <a:latin typeface="Aptos"/>
              </a:rPr>
              <a:t>ow do we retain the customers who are generating higher ARPU?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Customer behavior after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biggest warning signal is the customer 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074920" cy="4160520"/>
          </a:xfrm>
          <a:prstGeom prst="roundRect">
            <a:avLst/>
          </a:prstGeom>
          <a:solidFill>
            <a:srgbClr val="E8F4EA"/>
          </a:solidFill>
          <a:ln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91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2" b="1">
                <a:solidFill>
                  <a:srgbClr val="3D9156"/>
                </a:solidFill>
                <a:latin typeface="Aptos"/>
              </a:rPr>
              <a:t>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60" b="1">
                <a:solidFill>
                  <a:srgbClr val="2D3748"/>
                </a:solidFill>
                <a:latin typeface="Aptos"/>
              </a:rPr>
              <a:t>ARPU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50" b="1">
                <a:solidFill>
                  <a:srgbClr val="3D9156"/>
                </a:solidFill>
                <a:latin typeface="Aptos"/>
              </a:rPr>
              <a:t>~₹190  →  ~₹211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204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0">
                <a:solidFill>
                  <a:srgbClr val="697382"/>
                </a:solidFill>
                <a:latin typeface="Aptos"/>
              </a:rPr>
              <a:t>Customers who remain are generating more revenue per user.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5074920" cy="4160520"/>
          </a:xfrm>
          <a:prstGeom prst="roundRect">
            <a:avLst/>
          </a:prstGeom>
          <a:solidFill>
            <a:srgbClr val="FBE9E9"/>
          </a:solidFill>
          <a:ln>
            <a:solidFill>
              <a:srgbClr val="EB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2" b="1">
                <a:solidFill>
                  <a:srgbClr val="CD4B4B"/>
                </a:solidFill>
                <a:latin typeface="Aptos"/>
              </a:rPr>
              <a:t>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60" b="1">
                <a:solidFill>
                  <a:srgbClr val="2D3748"/>
                </a:solidFill>
                <a:latin typeface="Aptos"/>
              </a:rPr>
              <a:t>Active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50" b="1">
                <a:solidFill>
                  <a:srgbClr val="CD4B4B"/>
                </a:solidFill>
                <a:latin typeface="Aptos"/>
              </a:rPr>
              <a:t>84.35M  →  77.37M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204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0">
                <a:solidFill>
                  <a:srgbClr val="697382"/>
                </a:solidFill>
                <a:latin typeface="Aptos"/>
              </a:rPr>
              <a:t>Unsubscribed users also increased by about 23.5%.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52542"/>
            <a:ext cx="1069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3065B1"/>
                </a:solidFill>
                <a:latin typeface="Aptos"/>
              </a:rPr>
              <a:t>Key takeaway: </a:t>
            </a:r>
            <a:r>
              <a:rPr lang="en-US" b="1" dirty="0">
                <a:solidFill>
                  <a:srgbClr val="3065B1"/>
                </a:solidFill>
                <a:latin typeface="Aptos"/>
              </a:rPr>
              <a:t>R</a:t>
            </a:r>
            <a:r>
              <a:rPr b="1" dirty="0">
                <a:solidFill>
                  <a:srgbClr val="3065B1"/>
                </a:solidFill>
                <a:latin typeface="Aptos"/>
              </a:rPr>
              <a:t>etention is critical for converting ARPU growth into total revenue growth.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Which plans are performing well?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portfolio separates into stronger plans and plans that need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892040" cy="3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4" b="1" dirty="0">
                <a:solidFill>
                  <a:srgbClr val="3D9156"/>
                </a:solidFill>
                <a:latin typeface="Aptos"/>
              </a:rPr>
              <a:t>PERFORMING /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892040" cy="566928"/>
          </a:xfrm>
          <a:prstGeom prst="roundRect">
            <a:avLst/>
          </a:prstGeom>
          <a:solidFill>
            <a:srgbClr val="E8F4EA"/>
          </a:solidFill>
          <a:ln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3D9156"/>
                </a:solidFill>
                <a:latin typeface="Aptos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1051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2D3748"/>
                </a:solidFill>
                <a:latin typeface="Aptos"/>
              </a:rPr>
              <a:t>Strong core performer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59152"/>
            <a:ext cx="4892040" cy="566928"/>
          </a:xfrm>
          <a:prstGeom prst="roundRect">
            <a:avLst/>
          </a:prstGeom>
          <a:solidFill>
            <a:srgbClr val="E8F4EA"/>
          </a:solidFill>
          <a:ln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52374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3D9156"/>
                </a:solidFill>
                <a:latin typeface="Aptos"/>
              </a:rPr>
              <a:t>P11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52374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2D3748"/>
                </a:solidFill>
                <a:latin typeface="Aptos"/>
              </a:rPr>
              <a:t>Promising 5G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72384"/>
            <a:ext cx="4892040" cy="566928"/>
          </a:xfrm>
          <a:prstGeom prst="roundRect">
            <a:avLst/>
          </a:prstGeom>
          <a:solidFill>
            <a:srgbClr val="E8F4EA"/>
          </a:solidFill>
          <a:ln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236976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3D9156"/>
                </a:solidFill>
                <a:latin typeface="Aptos"/>
              </a:rPr>
              <a:t>P12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697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2D3748"/>
                </a:solidFill>
                <a:latin typeface="Aptos"/>
              </a:rPr>
              <a:t>Promising 5G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200788"/>
            <a:ext cx="4892040" cy="3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34" b="1" dirty="0">
                <a:solidFill>
                  <a:srgbClr val="CD4B4B"/>
                </a:solidFill>
                <a:latin typeface="Aptos"/>
              </a:rPr>
              <a:t>NEEDS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4892040" cy="566928"/>
          </a:xfrm>
          <a:prstGeom prst="roundRect">
            <a:avLst/>
          </a:prstGeom>
          <a:solidFill>
            <a:srgbClr val="FBE9E9"/>
          </a:solidFill>
          <a:ln>
            <a:solidFill>
              <a:srgbClr val="EB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810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CD4B4B"/>
                </a:solidFill>
                <a:latin typeface="Aptos"/>
              </a:rPr>
              <a:t>P4–P6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8105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2D3748"/>
                </a:solidFill>
                <a:latin typeface="Aptos"/>
              </a:rPr>
              <a:t>Revenue 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359152"/>
            <a:ext cx="4892040" cy="566928"/>
          </a:xfrm>
          <a:prstGeom prst="roundRect">
            <a:avLst/>
          </a:prstGeom>
          <a:solidFill>
            <a:srgbClr val="FBE9E9"/>
          </a:solidFill>
          <a:ln>
            <a:solidFill>
              <a:srgbClr val="EB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5237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CD4B4B"/>
                </a:solidFill>
                <a:latin typeface="Aptos"/>
              </a:rPr>
              <a:t>P7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237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2D3748"/>
                </a:solidFill>
                <a:latin typeface="Aptos"/>
              </a:rPr>
              <a:t>Very large decline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072384"/>
            <a:ext cx="4892040" cy="566928"/>
          </a:xfrm>
          <a:prstGeom prst="roundRect">
            <a:avLst/>
          </a:prstGeom>
          <a:solidFill>
            <a:srgbClr val="FBE9E9"/>
          </a:solidFill>
          <a:ln>
            <a:solidFill>
              <a:srgbClr val="EB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2369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CD4B4B"/>
                </a:solidFill>
                <a:latin typeface="Aptos"/>
              </a:rPr>
              <a:t>P8–P10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36976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2D3748"/>
                </a:solidFill>
                <a:latin typeface="Aptos"/>
              </a:rPr>
              <a:t>Low-value legacy plans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60520"/>
            <a:ext cx="10332720" cy="1234440"/>
          </a:xfrm>
          <a:prstGeom prst="roundRect">
            <a:avLst/>
          </a:prstGeom>
          <a:solidFill>
            <a:srgbClr val="FDF1DE"/>
          </a:solidFill>
          <a:ln>
            <a:solidFill>
              <a:srgbClr val="F0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623298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6912D"/>
                </a:solidFill>
                <a:latin typeface="Aptos"/>
              </a:rPr>
              <a:t>P7 stands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4542" y="4623298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D4B4B"/>
                </a:solidFill>
                <a:latin typeface="Aptos"/>
              </a:rPr>
              <a:t>₹582.4M → ₹155.6M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5637" y="4623298"/>
            <a:ext cx="2513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D4B4B"/>
                </a:solidFill>
                <a:latin typeface="Aptos"/>
              </a:rPr>
              <a:t>≈ 73% revenue decline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7698" y="4515576"/>
            <a:ext cx="3108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D3748"/>
                </a:solidFill>
                <a:latin typeface="Aptos"/>
              </a:rPr>
              <a:t>Consider a structured migration to suitable 5G plans.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Discontinued plans after the 5G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P8, P9 and P10 were removed from the portfolio.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46120" cy="3246120"/>
          </a:xfrm>
          <a:prstGeom prst="roundRect">
            <a:avLst/>
          </a:prstGeom>
          <a:solidFill>
            <a:srgbClr val="F7F9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50" b="1">
                <a:solidFill>
                  <a:srgbClr val="3065B1"/>
                </a:solidFill>
                <a:latin typeface="Aptos"/>
              </a:rPr>
              <a:t>P8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4" b="1">
                <a:solidFill>
                  <a:srgbClr val="CD4B4B"/>
                </a:solidFill>
                <a:latin typeface="Aptos"/>
              </a:rPr>
              <a:t>~5%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697382"/>
                </a:solidFill>
                <a:latin typeface="Aptos"/>
              </a:rPr>
              <a:t>Relatively low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4B4B"/>
                </a:solidFill>
                <a:latin typeface="Aptos"/>
              </a:rPr>
              <a:t>DISCONTINUED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79" y="1417320"/>
            <a:ext cx="3246120" cy="3246120"/>
          </a:xfrm>
          <a:prstGeom prst="roundRect">
            <a:avLst/>
          </a:prstGeom>
          <a:solidFill>
            <a:srgbClr val="F7F9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599" y="17830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50" b="1">
                <a:solidFill>
                  <a:srgbClr val="3065B1"/>
                </a:solidFill>
                <a:latin typeface="Aptos"/>
              </a:rPr>
              <a:t>P9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9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4" b="1">
                <a:solidFill>
                  <a:srgbClr val="CD4B4B"/>
                </a:solidFill>
                <a:latin typeface="Aptos"/>
              </a:rPr>
              <a:t>~2.5%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599" y="30632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697382"/>
                </a:solidFill>
                <a:latin typeface="Aptos"/>
              </a:rPr>
              <a:t>Limited value versus newer offers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4B4B"/>
                </a:solidFill>
                <a:latin typeface="Aptos"/>
              </a:rPr>
              <a:t>DISCONTINUED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417320"/>
            <a:ext cx="3246120" cy="3246120"/>
          </a:xfrm>
          <a:prstGeom prst="roundRect">
            <a:avLst/>
          </a:prstGeom>
          <a:solidFill>
            <a:srgbClr val="F7F9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830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50" b="1">
                <a:solidFill>
                  <a:srgbClr val="3065B1"/>
                </a:solidFill>
                <a:latin typeface="Aptos"/>
              </a:rPr>
              <a:t>P10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24" b="1">
                <a:solidFill>
                  <a:srgbClr val="CD4B4B"/>
                </a:solidFill>
                <a:latin typeface="Aptos"/>
              </a:rPr>
              <a:t>~1.5%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697382"/>
                </a:solidFill>
                <a:latin typeface="Aptos"/>
              </a:rPr>
              <a:t>Low contribution /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160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D4B4B"/>
                </a:solidFill>
                <a:latin typeface="Aptos"/>
              </a:rPr>
              <a:t>DISCONTINUED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74920"/>
            <a:ext cx="10789920" cy="1161288"/>
          </a:xfrm>
          <a:prstGeom prst="roundRect">
            <a:avLst/>
          </a:prstGeom>
          <a:solidFill>
            <a:srgbClr val="E8F1FC"/>
          </a:solidFill>
          <a:ln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449824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2D3748"/>
                </a:solidFill>
                <a:latin typeface="Aptos"/>
              </a:rPr>
              <a:t>Likely business logic: </a:t>
            </a:r>
            <a:r>
              <a:rPr lang="en-US" b="1" dirty="0">
                <a:solidFill>
                  <a:srgbClr val="2D3748"/>
                </a:solidFill>
                <a:latin typeface="Aptos"/>
              </a:rPr>
              <a:t>S</a:t>
            </a:r>
            <a:r>
              <a:rPr b="1" dirty="0">
                <a:solidFill>
                  <a:srgbClr val="2D3748"/>
                </a:solidFill>
                <a:latin typeface="Aptos"/>
              </a:rPr>
              <a:t>implify the legacy portfolio and redirect customers toward stronger 5G offers.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City-level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national result hides different local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3D9156"/>
                </a:solidFill>
                <a:latin typeface="Aptos"/>
              </a:rPr>
              <a:t>POSITIVE MOVEMENT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4754880" cy="502920"/>
          </a:xfrm>
          <a:prstGeom prst="roundRect">
            <a:avLst/>
          </a:prstGeom>
          <a:solidFill>
            <a:srgbClr val="E8F4EA"/>
          </a:solidFill>
          <a:ln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92224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3D9156"/>
                </a:solidFill>
                <a:latin typeface="Aptos"/>
              </a:rPr>
              <a:t>Lucknow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04288"/>
            <a:ext cx="4754880" cy="502920"/>
          </a:xfrm>
          <a:prstGeom prst="roundRect">
            <a:avLst/>
          </a:prstGeom>
          <a:solidFill>
            <a:srgbClr val="E8F4EA"/>
          </a:solidFill>
          <a:ln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1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3D9156"/>
                </a:solidFill>
                <a:latin typeface="Aptos"/>
              </a:rPr>
              <a:t>Gurgaon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62656"/>
            <a:ext cx="4754880" cy="502920"/>
          </a:xfrm>
          <a:prstGeom prst="roundRect">
            <a:avLst/>
          </a:prstGeom>
          <a:solidFill>
            <a:srgbClr val="E8F4EA"/>
          </a:solidFill>
          <a:ln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3D9156"/>
                </a:solidFill>
                <a:latin typeface="Aptos"/>
              </a:rPr>
              <a:t>Patna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CD4B4B"/>
                </a:solidFill>
                <a:latin typeface="Aptos"/>
              </a:rPr>
              <a:t>DECLINING / INVESTIGATE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4754880" cy="502920"/>
          </a:xfrm>
          <a:prstGeom prst="roundRect">
            <a:avLst/>
          </a:prstGeom>
          <a:solidFill>
            <a:srgbClr val="FBE9E9"/>
          </a:solidFill>
          <a:ln>
            <a:solidFill>
              <a:srgbClr val="EB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922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CD4B4B"/>
                </a:solidFill>
                <a:latin typeface="Aptos"/>
              </a:rPr>
              <a:t>Delhi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9222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16" b="0">
                <a:solidFill>
                  <a:srgbClr val="2D3748"/>
                </a:solidFill>
                <a:latin typeface="Aptos"/>
              </a:rPr>
              <a:t>~2.8% decline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04288"/>
            <a:ext cx="4754880" cy="502920"/>
          </a:xfrm>
          <a:prstGeom prst="roundRect">
            <a:avLst/>
          </a:prstGeom>
          <a:solidFill>
            <a:srgbClr val="FBE9E9"/>
          </a:solidFill>
          <a:ln>
            <a:solidFill>
              <a:srgbClr val="EB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4505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CD4B4B"/>
                </a:solidFill>
                <a:latin typeface="Aptos"/>
              </a:rPr>
              <a:t>Chennai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50591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16" b="0">
                <a:solidFill>
                  <a:srgbClr val="2D3748"/>
                </a:solidFill>
                <a:latin typeface="Aptos"/>
              </a:rPr>
              <a:t>~2.6% decline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62656"/>
            <a:ext cx="4754880" cy="502920"/>
          </a:xfrm>
          <a:prstGeom prst="roundRect">
            <a:avLst/>
          </a:prstGeom>
          <a:solidFill>
            <a:srgbClr val="FBE9E9"/>
          </a:solidFill>
          <a:ln>
            <a:solidFill>
              <a:srgbClr val="EBC3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34" b="1">
                <a:solidFill>
                  <a:srgbClr val="CD4B4B"/>
                </a:solidFill>
                <a:latin typeface="Aptos"/>
              </a:rPr>
              <a:t>Ahmedabad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08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16" b="0">
                <a:solidFill>
                  <a:srgbClr val="2D3748"/>
                </a:solidFill>
                <a:latin typeface="Aptos"/>
              </a:rPr>
              <a:t>~2.0% decline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09365"/>
            <a:ext cx="10149840" cy="1143000"/>
          </a:xfrm>
          <a:prstGeom prst="roundRect">
            <a:avLst/>
          </a:prstGeom>
          <a:solidFill>
            <a:srgbClr val="E8F1FC"/>
          </a:solidFill>
          <a:ln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599432"/>
            <a:ext cx="1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3065B1"/>
                </a:solidFill>
                <a:latin typeface="Aptos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457700"/>
            <a:ext cx="8869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D3748"/>
                </a:solidFill>
                <a:latin typeface="Aptos"/>
              </a:rPr>
              <a:t>Replicate successful approaches in growth cities and investigate pricing, network experience, competition and plan fit in declining cities.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Five simple findings from the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065B1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3444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D3748"/>
                </a:solidFill>
                <a:latin typeface="Aptos"/>
              </a:rPr>
              <a:t>Revenue is almost 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344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97382"/>
                </a:solidFill>
                <a:latin typeface="Aptos"/>
              </a:rPr>
              <a:t>5G has not yet produced a material topline uplift.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065B1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D3748"/>
                </a:solidFill>
                <a:latin typeface="Aptos"/>
              </a:rPr>
              <a:t>ARPU improved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97382"/>
                </a:solidFill>
                <a:latin typeface="Aptos"/>
              </a:rPr>
              <a:t>Retained customers are generating more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065B1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4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D3748"/>
                </a:solidFill>
                <a:latin typeface="Aptos"/>
              </a:rPr>
              <a:t>Retention is the main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97382"/>
                </a:solidFill>
                <a:latin typeface="Aptos"/>
              </a:rPr>
              <a:t>Active users fell while unsubscribes increased.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3065B1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77639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D3748"/>
                </a:solidFill>
                <a:latin typeface="Aptos"/>
              </a:rPr>
              <a:t>Plan migration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97382"/>
                </a:solidFill>
                <a:latin typeface="Aptos"/>
              </a:rPr>
              <a:t>P7 and other legacy plans need a structured migration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065B1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9204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D3748"/>
                </a:solidFill>
                <a:latin typeface="Aptos"/>
              </a:rPr>
              <a:t>Cities need different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92040"/>
            <a:ext cx="6400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97382"/>
                </a:solidFill>
                <a:latin typeface="Aptos"/>
              </a:rPr>
              <a:t>Growth and declining cities should not use exactly the same playbook.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Recommended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A simple three-step plan for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566160"/>
          </a:xfrm>
          <a:prstGeom prst="roundRect">
            <a:avLst/>
          </a:prstGeom>
          <a:solidFill>
            <a:srgbClr val="FBE9E9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D4B4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95" b="1">
                <a:solidFill>
                  <a:srgbClr val="2D3748"/>
                </a:solidFill>
                <a:latin typeface="Aptos"/>
              </a:rPr>
              <a:t>RETAIN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1">
                <a:solidFill>
                  <a:srgbClr val="CD4B4B"/>
                </a:solidFill>
                <a:latin typeface="Aptos"/>
              </a:rPr>
              <a:t>Reduce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697382"/>
                </a:solidFill>
                <a:latin typeface="Aptos"/>
              </a:rPr>
              <a:t>Focus on customers at risk of unsubscribing.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337560" cy="3566160"/>
          </a:xfrm>
          <a:prstGeom prst="roundRect">
            <a:avLst/>
          </a:prstGeom>
          <a:solidFill>
            <a:srgbClr val="E8F1FC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65B1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95" b="1">
                <a:solidFill>
                  <a:srgbClr val="2D3748"/>
                </a:solidFill>
                <a:latin typeface="Aptos"/>
              </a:rPr>
              <a:t>MIGRATE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1">
                <a:solidFill>
                  <a:srgbClr val="3065B1"/>
                </a:solidFill>
                <a:latin typeface="Aptos"/>
              </a:rPr>
              <a:t>Move legacy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29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697382"/>
                </a:solidFill>
                <a:latin typeface="Aptos"/>
              </a:rPr>
              <a:t>Move suitable P4–P7 customers to relevant 5G offers.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337560" cy="3566160"/>
          </a:xfrm>
          <a:prstGeom prst="roundRect">
            <a:avLst/>
          </a:prstGeom>
          <a:solidFill>
            <a:srgbClr val="E8F4EA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D915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95" b="1">
                <a:solidFill>
                  <a:srgbClr val="2D3748"/>
                </a:solidFill>
                <a:latin typeface="Aptos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1">
                <a:solidFill>
                  <a:srgbClr val="3D9156"/>
                </a:solidFill>
                <a:latin typeface="Aptos"/>
              </a:rPr>
              <a:t>Grow winning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429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16" b="0">
                <a:solidFill>
                  <a:srgbClr val="697382"/>
                </a:solidFill>
                <a:latin typeface="Aptos"/>
              </a:rPr>
              <a:t>Increase focus on P1, P11 and P12.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927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3065B1"/>
                </a:solidFill>
                <a:latin typeface="Aptos"/>
              </a:rPr>
              <a:t>Goal: </a:t>
            </a:r>
            <a:r>
              <a:rPr lang="en-US" sz="2000" b="1" dirty="0">
                <a:solidFill>
                  <a:srgbClr val="3065B1"/>
                </a:solidFill>
                <a:latin typeface="Aptos"/>
              </a:rPr>
              <a:t>I</a:t>
            </a:r>
            <a:r>
              <a:rPr sz="2000" b="1" dirty="0">
                <a:solidFill>
                  <a:srgbClr val="3065B1"/>
                </a:solidFill>
                <a:latin typeface="Aptos"/>
              </a:rPr>
              <a:t>ncrease total revenue without sacrificing the customer 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3955"/>
                </a:solidFill>
                <a:latin typeface="Aptos"/>
              </a:rPr>
              <a:t>Final management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321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382"/>
                </a:solidFill>
                <a:latin typeface="Aptos"/>
              </a:rPr>
              <a:t>The 5G launch created an opportunity, but retention determines sustainability.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98480" cy="1143000"/>
          </a:xfrm>
          <a:prstGeom prst="roundRect">
            <a:avLst/>
          </a:prstGeom>
          <a:solidFill>
            <a:srgbClr val="E8F1FC"/>
          </a:solidFill>
          <a:ln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98480" cy="473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77" b="1" dirty="0">
                <a:solidFill>
                  <a:srgbClr val="3065B1"/>
                </a:solidFill>
                <a:latin typeface="Aptos"/>
              </a:rPr>
              <a:t>5G is monetizing the customers who stay.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63240"/>
            <a:ext cx="2468880" cy="1234440"/>
          </a:xfrm>
          <a:prstGeom prst="roundRect">
            <a:avLst/>
          </a:prstGeom>
          <a:solidFill>
            <a:srgbClr val="FBE9E9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32735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382"/>
                </a:solidFill>
                <a:latin typeface="Aptos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393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60" b="1">
                <a:solidFill>
                  <a:srgbClr val="CD4B4B"/>
                </a:solidFill>
                <a:latin typeface="Aptos"/>
              </a:rPr>
              <a:t>-0.5%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063240"/>
            <a:ext cx="2468880" cy="1234440"/>
          </a:xfrm>
          <a:prstGeom prst="roundRect">
            <a:avLst/>
          </a:prstGeom>
          <a:solidFill>
            <a:srgbClr val="E8F4EA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2" y="32735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382"/>
                </a:solidFill>
                <a:latin typeface="Aptos"/>
              </a:rPr>
              <a:t>ARPU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36393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60" b="1">
                <a:solidFill>
                  <a:srgbClr val="3D9156"/>
                </a:solidFill>
                <a:latin typeface="Aptos"/>
              </a:rPr>
              <a:t>+11.1%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63240"/>
            <a:ext cx="2468880" cy="1234440"/>
          </a:xfrm>
          <a:prstGeom prst="roundRect">
            <a:avLst/>
          </a:prstGeom>
          <a:solidFill>
            <a:srgbClr val="FBE9E9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32735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382"/>
                </a:solidFill>
                <a:latin typeface="Aptos"/>
              </a:rPr>
              <a:t>Active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36393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60" b="1">
                <a:solidFill>
                  <a:srgbClr val="CD4B4B"/>
                </a:solidFill>
                <a:latin typeface="Aptos"/>
              </a:rPr>
              <a:t>-8.3%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063240"/>
            <a:ext cx="2468880" cy="1234440"/>
          </a:xfrm>
          <a:prstGeom prst="roundRect">
            <a:avLst/>
          </a:prstGeom>
          <a:solidFill>
            <a:srgbClr val="FBE9E9"/>
          </a:solidFill>
          <a:ln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71432" y="327355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97382"/>
                </a:solidFill>
                <a:latin typeface="Aptos"/>
              </a:rPr>
              <a:t>Unsubscribed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36393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60" b="1">
                <a:solidFill>
                  <a:srgbClr val="CD4B4B"/>
                </a:solidFill>
                <a:latin typeface="Aptos"/>
              </a:rPr>
              <a:t>+23.5%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D3748"/>
                </a:solidFill>
                <a:latin typeface="Aptos"/>
              </a:rP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92040"/>
            <a:ext cx="9235440" cy="364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70" b="1" dirty="0">
                <a:solidFill>
                  <a:srgbClr val="3065B1"/>
                </a:solidFill>
                <a:latin typeface="Aptos"/>
              </a:rPr>
              <a:t>Retain customers  →  Migrate legacy plans  →  Scale successful 5G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51115"/>
            <a:ext cx="10698480" cy="419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24" b="1" dirty="0">
                <a:solidFill>
                  <a:srgbClr val="2D3748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382"/>
                </a:solidFill>
                <a:latin typeface="Aptos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8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57</TotalTime>
  <Words>624</Words>
  <Application>Microsoft Office PowerPoint</Application>
  <PresentationFormat>Widescreen</PresentationFormat>
  <Paragraphs>155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Bikram Mukherjee</cp:lastModifiedBy>
  <cp:revision>2</cp:revision>
  <dcterms:created xsi:type="dcterms:W3CDTF">2013-01-27T09:14:16Z</dcterms:created>
  <dcterms:modified xsi:type="dcterms:W3CDTF">2026-09-21T08:48:33Z</dcterms:modified>
  <cp:category/>
</cp:coreProperties>
</file>